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920240"/>
            <a:ext cx="11185855" cy="1005840"/>
          </a:xfrm>
          <a:prstGeom prst="rect">
            <a:avLst/>
          </a:prstGeom>
          <a:noFill/>
        </p:spPr>
        <p:txBody>
          <a:bodyPr wrap="square" anchor="t">
            <a:noAutofit/>
          </a:bodyPr>
          <a:lstStyle/>
          <a:p>
            <a:pPr algn="l"/>
            <a:r>
              <a:rPr sz="5400" b="1">
                <a:solidFill>
                  <a:srgbClr val="FFFFFF"/>
                </a:solidFill>
                <a:latin typeface="Calibri Light"/>
              </a:rPr>
              <a:t>RISCON</a:t>
            </a:r>
          </a:p>
        </p:txBody>
      </p:sp>
      <p:sp>
        <p:nvSpPr>
          <p:cNvPr id="5" name="TextBox 4"/>
          <p:cNvSpPr txBox="1"/>
          <p:nvPr/>
        </p:nvSpPr>
        <p:spPr>
          <a:xfrm>
            <a:off x="502920" y="2880360"/>
            <a:ext cx="11185855" cy="502920"/>
          </a:xfrm>
          <a:prstGeom prst="rect">
            <a:avLst/>
          </a:prstGeom>
          <a:noFill/>
        </p:spPr>
        <p:txBody>
          <a:bodyPr wrap="square" anchor="t">
            <a:noAutofit/>
          </a:bodyPr>
          <a:lstStyle/>
          <a:p>
            <a:pPr algn="l"/>
            <a:r>
              <a:rPr sz="1400" b="1">
                <a:solidFill>
                  <a:srgbClr val="22D3EE"/>
                </a:solidFill>
                <a:latin typeface="Consolas"/>
              </a:rPr>
              <a:t>SUPPLY CHAIN RISK COMMAND CENTER</a:t>
            </a:r>
          </a:p>
        </p:txBody>
      </p:sp>
      <p:sp>
        <p:nvSpPr>
          <p:cNvPr id="6" name="TextBox 5"/>
          <p:cNvSpPr txBox="1"/>
          <p:nvPr/>
        </p:nvSpPr>
        <p:spPr>
          <a:xfrm>
            <a:off x="502920" y="3520440"/>
            <a:ext cx="11185855" cy="1097280"/>
          </a:xfrm>
          <a:prstGeom prst="rect">
            <a:avLst/>
          </a:prstGeom>
          <a:noFill/>
        </p:spPr>
        <p:txBody>
          <a:bodyPr wrap="square" anchor="t">
            <a:noAutofit/>
          </a:bodyPr>
          <a:lstStyle/>
          <a:p>
            <a:pPr algn="l"/>
            <a:r>
              <a:rPr sz="1600" b="0">
                <a:solidFill>
                  <a:srgbClr val="94A3B8"/>
                </a:solidFill>
                <a:latin typeface="Calibri"/>
              </a:rPr>
              <a:t>AI-classified maritime &amp; logistics news, fused with enterprise plants, suppliers, and fleet mobility — delivered through a live operations dashboard and probability signals.</a:t>
            </a:r>
          </a:p>
        </p:txBody>
      </p:sp>
      <p:sp>
        <p:nvSpPr>
          <p:cNvPr id="7" name="Rounded Rectangle 6"/>
          <p:cNvSpPr/>
          <p:nvPr/>
        </p:nvSpPr>
        <p:spPr>
          <a:xfrm>
            <a:off x="502920" y="4709160"/>
            <a:ext cx="2606040" cy="594360"/>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837176"/>
            <a:ext cx="2286000" cy="594360"/>
          </a:xfrm>
          <a:prstGeom prst="rect">
            <a:avLst/>
          </a:prstGeom>
          <a:noFill/>
        </p:spPr>
        <p:txBody>
          <a:bodyPr wrap="none">
            <a:spAutoFit/>
          </a:bodyPr>
          <a:lstStyle/>
          <a:p>
            <a:pPr>
              <a:defRPr sz="1000" b="1">
                <a:solidFill>
                  <a:srgbClr val="22C55E"/>
                </a:solidFill>
                <a:latin typeface="Consolas"/>
              </a:defRPr>
            </a:pPr>
            <a:r>
              <a:t>LIVE SIGNALS</a:t>
            </a:r>
          </a:p>
        </p:txBody>
      </p:sp>
      <p:sp>
        <p:nvSpPr>
          <p:cNvPr id="9" name="Rounded Rectangle 8"/>
          <p:cNvSpPr/>
          <p:nvPr/>
        </p:nvSpPr>
        <p:spPr>
          <a:xfrm>
            <a:off x="3429000" y="4709160"/>
            <a:ext cx="2606040" cy="594360"/>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4837176"/>
            <a:ext cx="2286000" cy="594360"/>
          </a:xfrm>
          <a:prstGeom prst="rect">
            <a:avLst/>
          </a:prstGeom>
          <a:noFill/>
        </p:spPr>
        <p:txBody>
          <a:bodyPr wrap="none">
            <a:spAutoFit/>
          </a:bodyPr>
          <a:lstStyle/>
          <a:p>
            <a:pPr>
              <a:defRPr sz="1000" b="1">
                <a:solidFill>
                  <a:srgbClr val="22D3EE"/>
                </a:solidFill>
                <a:latin typeface="Consolas"/>
              </a:defRPr>
            </a:pPr>
            <a:r>
              <a:t>PROBABILITY ENGINE</a:t>
            </a:r>
          </a:p>
        </p:txBody>
      </p:sp>
      <p:sp>
        <p:nvSpPr>
          <p:cNvPr id="11" name="Rounded Rectangle 10"/>
          <p:cNvSpPr/>
          <p:nvPr/>
        </p:nvSpPr>
        <p:spPr>
          <a:xfrm>
            <a:off x="6355080" y="4709160"/>
            <a:ext cx="2606040" cy="594360"/>
          </a:xfrm>
          <a:prstGeom prst="roundRect">
            <a:avLst/>
          </a:prstGeom>
          <a:solidFill>
            <a:srgbClr val="1E293B"/>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4837176"/>
            <a:ext cx="2286000" cy="594360"/>
          </a:xfrm>
          <a:prstGeom prst="rect">
            <a:avLst/>
          </a:prstGeom>
          <a:noFill/>
        </p:spPr>
        <p:txBody>
          <a:bodyPr wrap="none">
            <a:spAutoFit/>
          </a:bodyPr>
          <a:lstStyle/>
          <a:p>
            <a:pPr>
              <a:defRPr sz="1000" b="1">
                <a:solidFill>
                  <a:srgbClr val="FACC15"/>
                </a:solidFill>
                <a:latin typeface="Consolas"/>
              </a:defRPr>
            </a:pPr>
            <a:r>
              <a:t>ENTERPRISE DATA</a:t>
            </a:r>
          </a:p>
        </p:txBody>
      </p:sp>
      <p:sp>
        <p:nvSpPr>
          <p:cNvPr id="13" name="TextBox 12"/>
          <p:cNvSpPr txBox="1"/>
          <p:nvPr/>
        </p:nvSpPr>
        <p:spPr>
          <a:xfrm>
            <a:off x="502920" y="6263640"/>
            <a:ext cx="11185855" cy="365760"/>
          </a:xfrm>
          <a:prstGeom prst="rect">
            <a:avLst/>
          </a:prstGeom>
          <a:noFill/>
        </p:spPr>
        <p:txBody>
          <a:bodyPr wrap="square" anchor="t">
            <a:noAutofit/>
          </a:bodyPr>
          <a:lstStyle/>
          <a:p>
            <a:pPr algn="l"/>
            <a:r>
              <a:rPr sz="1100" b="0">
                <a:solidFill>
                  <a:srgbClr val="64748B"/>
                </a:solidFill>
                <a:latin typeface="Calibri"/>
              </a:rPr>
              <a:t>CursorHackathon · Vector-Devs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85855" cy="320040"/>
          </a:xfrm>
          <a:prstGeom prst="rect">
            <a:avLst/>
          </a:prstGeom>
          <a:noFill/>
        </p:spPr>
        <p:txBody>
          <a:bodyPr wrap="square" anchor="t">
            <a:noAutofit/>
          </a:bodyPr>
          <a:lstStyle/>
          <a:p>
            <a:pPr algn="l"/>
            <a:r>
              <a:rPr sz="1000" b="1">
                <a:solidFill>
                  <a:srgbClr val="22D3EE"/>
                </a:solidFill>
                <a:latin typeface="Consolas"/>
              </a:rPr>
              <a:t>SLIDE 1</a:t>
            </a:r>
          </a:p>
        </p:txBody>
      </p:sp>
      <p:sp>
        <p:nvSpPr>
          <p:cNvPr id="5" name="TextBox 4"/>
          <p:cNvSpPr txBox="1"/>
          <p:nvPr/>
        </p:nvSpPr>
        <p:spPr>
          <a:xfrm>
            <a:off x="502920" y="777240"/>
            <a:ext cx="11185855" cy="822960"/>
          </a:xfrm>
          <a:prstGeom prst="rect">
            <a:avLst/>
          </a:prstGeom>
          <a:noFill/>
        </p:spPr>
        <p:txBody>
          <a:bodyPr wrap="square" anchor="t">
            <a:noAutofit/>
          </a:bodyPr>
          <a:lstStyle/>
          <a:p>
            <a:pPr algn="l"/>
            <a:r>
              <a:rPr sz="2600" b="1">
                <a:solidFill>
                  <a:srgbClr val="FFFFFF"/>
                </a:solidFill>
                <a:latin typeface="Calibri Light"/>
              </a:rPr>
              <a:t>THE MARKET PROBLEM</a:t>
            </a:r>
          </a:p>
        </p:txBody>
      </p:sp>
      <p:sp>
        <p:nvSpPr>
          <p:cNvPr id="6" name="Rounded Rectangle 5"/>
          <p:cNvSpPr/>
          <p:nvPr/>
        </p:nvSpPr>
        <p:spPr>
          <a:xfrm>
            <a:off x="502920" y="1691640"/>
            <a:ext cx="11185855" cy="466344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45775" cy="4160520"/>
          </a:xfrm>
          <a:prstGeom prst="rect">
            <a:avLst/>
          </a:prstGeom>
          <a:noFill/>
        </p:spPr>
        <p:txBody>
          <a:bodyPr wrap="square">
            <a:spAutoFit/>
          </a:bodyPr>
          <a:lstStyle/>
          <a:p>
            <a:pPr>
              <a:spcAft>
                <a:spcPts val="800"/>
              </a:spcAft>
              <a:defRPr sz="1300">
                <a:solidFill>
                  <a:srgbClr val="94A3B8"/>
                </a:solidFill>
                <a:latin typeface="Calibri"/>
              </a:defRPr>
            </a:pPr>
            <a:r>
              <a:t>WHO HAS THIS PROBLEM? Heads of supply chain planning and logistics control-tower leads at mid-market and large manufacturers ($100M–$5B revenue), plus ocean-freight and 3PL operations teams serving CPG, automotive, and industrial OEMs. Secondary buyers: procurement risk managers and resilience program owners replacing spreadsheet war rooms.</a:t>
            </a:r>
          </a:p>
          <a:p>
            <a:pPr>
              <a:spcAft>
                <a:spcPts val="800"/>
              </a:spcAft>
              <a:defRPr sz="1300">
                <a:solidFill>
                  <a:srgbClr val="94A3B8"/>
                </a:solidFill>
                <a:latin typeface="Calibri"/>
              </a:defRPr>
            </a:pPr>
            <a:r>
              <a:t>HOW BIG IS THE MARKET? [EDIT: add SAM — e.g. ~X,000 target accounts in EU+US with offshore suppliers] · [EDIT: attach $B TAM for supply-chain risk / control-tower software with source] · [EDIT: user seats or ARR pool you believe you can capture in 5 years]</a:t>
            </a:r>
          </a:p>
          <a:p>
            <a:pPr>
              <a:spcAft>
                <a:spcPts val="800"/>
              </a:spcAft>
              <a:defRPr sz="1300">
                <a:solidFill>
                  <a:srgbClr val="94A3B8"/>
                </a:solidFill>
                <a:latin typeface="Calibri"/>
              </a:defRPr>
            </a:pPr>
            <a:r>
              <a:t>HOW DO THEY SOLVE IT TODAY, AND WHY DOES THAT SUCK? Email chains, Google Alerts, shared Excel risk registers, and generic news dashboards. None of it is wired to their plants, suppliers, active shipments, or fleet positions, so leaders get noise, 24–48h lag, and no shared probability of impact. Enterprise GRC suites are heavy, slow to deploy, and tuned for audit—not daily ops.</a:t>
            </a:r>
          </a:p>
          <a:p>
            <a:pPr>
              <a:spcAft>
                <a:spcPts val="800"/>
              </a:spcAft>
              <a:defRPr sz="1300">
                <a:solidFill>
                  <a:srgbClr val="94A3B8"/>
                </a:solidFill>
                <a:latin typeface="Calibri"/>
              </a:defRPr>
            </a:pPr>
            <a:r>
              <a:t>Investors fund markets, not features. We are going after the gap between “headline chaos” and “actionable, portfolio-level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85855" cy="320040"/>
          </a:xfrm>
          <a:prstGeom prst="rect">
            <a:avLst/>
          </a:prstGeom>
          <a:noFill/>
        </p:spPr>
        <p:txBody>
          <a:bodyPr wrap="square" anchor="t">
            <a:noAutofit/>
          </a:bodyPr>
          <a:lstStyle/>
          <a:p>
            <a:pPr algn="l"/>
            <a:r>
              <a:rPr sz="1000" b="1">
                <a:solidFill>
                  <a:srgbClr val="22D3EE"/>
                </a:solidFill>
                <a:latin typeface="Consolas"/>
              </a:rPr>
              <a:t>SLIDE 2</a:t>
            </a:r>
          </a:p>
        </p:txBody>
      </p:sp>
      <p:sp>
        <p:nvSpPr>
          <p:cNvPr id="5" name="TextBox 4"/>
          <p:cNvSpPr txBox="1"/>
          <p:nvPr/>
        </p:nvSpPr>
        <p:spPr>
          <a:xfrm>
            <a:off x="502920" y="777240"/>
            <a:ext cx="11185855" cy="822960"/>
          </a:xfrm>
          <a:prstGeom prst="rect">
            <a:avLst/>
          </a:prstGeom>
          <a:noFill/>
        </p:spPr>
        <p:txBody>
          <a:bodyPr wrap="square" anchor="t">
            <a:noAutofit/>
          </a:bodyPr>
          <a:lstStyle/>
          <a:p>
            <a:pPr algn="l"/>
            <a:r>
              <a:rPr sz="2600" b="1">
                <a:solidFill>
                  <a:srgbClr val="FFFFFF"/>
                </a:solidFill>
                <a:latin typeface="Calibri Light"/>
              </a:rPr>
              <a:t>YOUR SOLUTION</a:t>
            </a:r>
          </a:p>
        </p:txBody>
      </p:sp>
      <p:sp>
        <p:nvSpPr>
          <p:cNvPr id="6" name="Rounded Rectangle 5"/>
          <p:cNvSpPr/>
          <p:nvPr/>
        </p:nvSpPr>
        <p:spPr>
          <a:xfrm>
            <a:off x="502920" y="1691640"/>
            <a:ext cx="11185855" cy="466344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45775" cy="4160520"/>
          </a:xfrm>
          <a:prstGeom prst="rect">
            <a:avLst/>
          </a:prstGeom>
          <a:noFill/>
        </p:spPr>
        <p:txBody>
          <a:bodyPr wrap="square">
            <a:spAutoFit/>
          </a:bodyPr>
          <a:lstStyle/>
          <a:p>
            <a:pPr>
              <a:spcAft>
                <a:spcPts val="800"/>
              </a:spcAft>
              <a:defRPr sz="1400">
                <a:solidFill>
                  <a:srgbClr val="94A3B8"/>
                </a:solidFill>
                <a:latin typeface="Calibri"/>
              </a:defRPr>
            </a:pPr>
            <a:r>
              <a:t>ONE SENTENCE: Riscon is an AI-native supply-chain risk cockpit that turns maritime and logistics news into structured signals, scores them against your enterprise footprint and fleet context, and pushes live probability updates to operators.</a:t>
            </a:r>
          </a:p>
          <a:p>
            <a:pPr>
              <a:spcAft>
                <a:spcPts val="800"/>
              </a:spcAft>
              <a:defRPr sz="1400">
                <a:solidFill>
                  <a:srgbClr val="94A3B8"/>
                </a:solidFill>
                <a:latin typeface="Calibri"/>
              </a:defRPr>
            </a:pPr>
            <a:r>
              <a:t>WHY ~10× BETTER THAN ALTERNATIVES? Versus alerts + spreadsheets: same-day structured signals tied to sites and suppliers, not detached headlines. Versus legacy resilience suites: faster time-to-value (Docker-ready microservices, API-first), focused UX for the control tower, and continuous scoring instead of quarterly manual assessments. Versus generic LLM chat: productized pipelines, caching, and WebSocket delivery built for ops, not ad-hoc prompts.</a:t>
            </a:r>
          </a:p>
          <a:p>
            <a:pPr>
              <a:spcAft>
                <a:spcPts val="800"/>
              </a:spcAft>
              <a:defRPr sz="1400">
                <a:solidFill>
                  <a:srgbClr val="94A3B8"/>
                </a:solidFill>
                <a:latin typeface="Calibri"/>
              </a:defRPr>
            </a:pPr>
            <a:r>
              <a:t>Keep the demo tight: one screen that shows news → probability → map. That is enough to “get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85855" cy="320040"/>
          </a:xfrm>
          <a:prstGeom prst="rect">
            <a:avLst/>
          </a:prstGeom>
          <a:noFill/>
        </p:spPr>
        <p:txBody>
          <a:bodyPr wrap="square" anchor="t">
            <a:noAutofit/>
          </a:bodyPr>
          <a:lstStyle/>
          <a:p>
            <a:pPr algn="l"/>
            <a:r>
              <a:rPr sz="1000" b="1">
                <a:solidFill>
                  <a:srgbClr val="22D3EE"/>
                </a:solidFill>
                <a:latin typeface="Consolas"/>
              </a:rPr>
              <a:t>SLIDE 3</a:t>
            </a:r>
          </a:p>
        </p:txBody>
      </p:sp>
      <p:sp>
        <p:nvSpPr>
          <p:cNvPr id="5" name="TextBox 4"/>
          <p:cNvSpPr txBox="1"/>
          <p:nvPr/>
        </p:nvSpPr>
        <p:spPr>
          <a:xfrm>
            <a:off x="502920" y="777240"/>
            <a:ext cx="11185855" cy="822960"/>
          </a:xfrm>
          <a:prstGeom prst="rect">
            <a:avLst/>
          </a:prstGeom>
          <a:noFill/>
        </p:spPr>
        <p:txBody>
          <a:bodyPr wrap="square" anchor="t">
            <a:noAutofit/>
          </a:bodyPr>
          <a:lstStyle/>
          <a:p>
            <a:pPr algn="l"/>
            <a:r>
              <a:rPr sz="2600" b="1">
                <a:solidFill>
                  <a:srgbClr val="FFFFFF"/>
                </a:solidFill>
                <a:latin typeface="Calibri Light"/>
              </a:rPr>
              <a:t>BUSINESS MODEL</a:t>
            </a:r>
          </a:p>
        </p:txBody>
      </p:sp>
      <p:sp>
        <p:nvSpPr>
          <p:cNvPr id="6" name="Rounded Rectangle 5"/>
          <p:cNvSpPr/>
          <p:nvPr/>
        </p:nvSpPr>
        <p:spPr>
          <a:xfrm>
            <a:off x="502920" y="1691640"/>
            <a:ext cx="11185855" cy="466344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45775" cy="4160520"/>
          </a:xfrm>
          <a:prstGeom prst="rect">
            <a:avLst/>
          </a:prstGeom>
          <a:noFill/>
        </p:spPr>
        <p:txBody>
          <a:bodyPr wrap="square">
            <a:spAutoFit/>
          </a:bodyPr>
          <a:lstStyle/>
          <a:p>
            <a:pPr>
              <a:spcAft>
                <a:spcPts val="800"/>
              </a:spcAft>
              <a:defRPr sz="1300">
                <a:solidFill>
                  <a:srgbClr val="94A3B8"/>
                </a:solidFill>
                <a:latin typeface="Calibri"/>
              </a:defRPr>
            </a:pPr>
            <a:r>
              <a:t>WHO PAYS? VP / Director Supply Chain, Chief Procurement Officer, Head of Logistics, and increasingly Chief Risk (operational resilience budget). Second line: 3PLs and 4PLs who resell “white-label” risk visibility to shippers.</a:t>
            </a:r>
          </a:p>
          <a:p>
            <a:pPr>
              <a:spcAft>
                <a:spcPts val="800"/>
              </a:spcAft>
              <a:defRPr sz="1300">
                <a:solidFill>
                  <a:srgbClr val="94A3B8"/>
                </a:solidFill>
                <a:latin typeface="Calibri"/>
              </a:defRPr>
            </a:pPr>
            <a:r>
              <a:t>HOW MUCH WOULD THEY PAY? [EDIT: pick anchor] Example framing: $25–75 per named user / month for the team tier, or $18k–60k annual platform fee for mid-market (10–50 sites) with minimums. Enterprise above that with SSO, SLAs, and custom data feeds.</a:t>
            </a:r>
          </a:p>
          <a:p>
            <a:pPr>
              <a:spcAft>
                <a:spcPts val="800"/>
              </a:spcAft>
              <a:defRPr sz="1300">
                <a:solidFill>
                  <a:srgbClr val="94A3B8"/>
                </a:solidFill>
                <a:latin typeface="Calibri"/>
              </a:defRPr>
            </a:pPr>
            <a:r>
              <a:t>UNIT ECONOMICS (ILLUSTRATIVE — REPLACE WITH YOUR MODEL): Assume $40k ACV, 75% gross margin after cloud + LLM API usage. If news enrichment costs ~$[EDIT] per active customer per month and hosting ~$[EDIT], target CAC payback in &lt;12 months via inside sales. Show consumption caps on AI to protect margin.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85855" cy="320040"/>
          </a:xfrm>
          <a:prstGeom prst="rect">
            <a:avLst/>
          </a:prstGeom>
          <a:noFill/>
        </p:spPr>
        <p:txBody>
          <a:bodyPr wrap="square" anchor="t">
            <a:noAutofit/>
          </a:bodyPr>
          <a:lstStyle/>
          <a:p>
            <a:pPr algn="l"/>
            <a:r>
              <a:rPr sz="1000" b="1">
                <a:solidFill>
                  <a:srgbClr val="22D3EE"/>
                </a:solidFill>
                <a:latin typeface="Consolas"/>
              </a:rPr>
              <a:t>SLIDE 4</a:t>
            </a:r>
          </a:p>
        </p:txBody>
      </p:sp>
      <p:sp>
        <p:nvSpPr>
          <p:cNvPr id="5" name="TextBox 4"/>
          <p:cNvSpPr txBox="1"/>
          <p:nvPr/>
        </p:nvSpPr>
        <p:spPr>
          <a:xfrm>
            <a:off x="502920" y="777240"/>
            <a:ext cx="11185855" cy="822960"/>
          </a:xfrm>
          <a:prstGeom prst="rect">
            <a:avLst/>
          </a:prstGeom>
          <a:noFill/>
        </p:spPr>
        <p:txBody>
          <a:bodyPr wrap="square" anchor="t">
            <a:noAutofit/>
          </a:bodyPr>
          <a:lstStyle/>
          <a:p>
            <a:pPr algn="l"/>
            <a:r>
              <a:rPr sz="2600" b="1">
                <a:solidFill>
                  <a:srgbClr val="FFFFFF"/>
                </a:solidFill>
                <a:latin typeface="Calibri Light"/>
              </a:rPr>
              <a:t>GO-TO-MARKET PLAN</a:t>
            </a:r>
          </a:p>
        </p:txBody>
      </p:sp>
      <p:sp>
        <p:nvSpPr>
          <p:cNvPr id="6" name="Rounded Rectangle 5"/>
          <p:cNvSpPr/>
          <p:nvPr/>
        </p:nvSpPr>
        <p:spPr>
          <a:xfrm>
            <a:off x="502920" y="1691640"/>
            <a:ext cx="11185855" cy="466344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45775" cy="4160520"/>
          </a:xfrm>
          <a:prstGeom prst="rect">
            <a:avLst/>
          </a:prstGeom>
          <a:noFill/>
        </p:spPr>
        <p:txBody>
          <a:bodyPr wrap="square">
            <a:spAutoFit/>
          </a:bodyPr>
          <a:lstStyle/>
          <a:p>
            <a:pPr>
              <a:spcAft>
                <a:spcPts val="800"/>
              </a:spcAft>
              <a:defRPr sz="1400">
                <a:solidFill>
                  <a:srgbClr val="94A3B8"/>
                </a:solidFill>
                <a:latin typeface="Calibri"/>
              </a:defRPr>
            </a:pPr>
            <a:r>
              <a:t>FIRST 10 CUSTOMERS (BE SPECIFIC — REPLACE WITH YOUR LIST): (1) DM or warm intro to 30 heads of logistics in [EDIT: e.g. German automotive supplier association members]. (2) Offer free 30-day pilot to 5 mid-market manufacturers you can reach via [EDIT: e.g. IHK / VDMA events]. (3) Partner pitch to 2 regional 3PLs for a co-branded “shipper risk” widget. (4) Publish one public case: “From alert to action in 15 minutes.”</a:t>
            </a:r>
          </a:p>
          <a:p>
            <a:pPr>
              <a:spcAft>
                <a:spcPts val="800"/>
              </a:spcAft>
              <a:defRPr sz="1400">
                <a:solidFill>
                  <a:srgbClr val="94A3B8"/>
                </a:solidFill>
                <a:latin typeface="Calibri"/>
              </a:defRPr>
            </a:pPr>
            <a:r>
              <a:t>DISTRIBUTION ADVANTAGE: [EDIT — e.g. existing enterprise relationships, open-source community, alumni network, niche newsletter, or integration into WMS/TMS partner marketplace]. What is repeatable beyond “posting on LinkedIn”?</a:t>
            </a:r>
          </a:p>
          <a:p>
            <a:pPr>
              <a:spcAft>
                <a:spcPts val="800"/>
              </a:spcAft>
              <a:defRPr sz="1400">
                <a:solidFill>
                  <a:srgbClr val="94A3B8"/>
                </a:solidFill>
                <a:latin typeface="Calibri"/>
              </a:defRPr>
            </a:pPr>
            <a:r>
              <a:t>WHY SWITCH FROM THE STATUS QUO? They leave when weekly executive reviews still start with “did anyone see the news about…” Switch when Riscon shows probability by site/supplier on a live board their CEO can trust. Offer side-by-side pilot vs. current alert inbox for 4 weeks.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411480"/>
            <a:ext cx="11185855" cy="320040"/>
          </a:xfrm>
          <a:prstGeom prst="rect">
            <a:avLst/>
          </a:prstGeom>
          <a:noFill/>
        </p:spPr>
        <p:txBody>
          <a:bodyPr wrap="square" anchor="t">
            <a:noAutofit/>
          </a:bodyPr>
          <a:lstStyle/>
          <a:p>
            <a:pPr algn="l"/>
            <a:r>
              <a:rPr sz="1000" b="1">
                <a:solidFill>
                  <a:srgbClr val="22D3EE"/>
                </a:solidFill>
                <a:latin typeface="Consolas"/>
              </a:rPr>
              <a:t>SLIDE 5</a:t>
            </a:r>
          </a:p>
        </p:txBody>
      </p:sp>
      <p:sp>
        <p:nvSpPr>
          <p:cNvPr id="5" name="TextBox 4"/>
          <p:cNvSpPr txBox="1"/>
          <p:nvPr/>
        </p:nvSpPr>
        <p:spPr>
          <a:xfrm>
            <a:off x="502920" y="777240"/>
            <a:ext cx="11185855" cy="822960"/>
          </a:xfrm>
          <a:prstGeom prst="rect">
            <a:avLst/>
          </a:prstGeom>
          <a:noFill/>
        </p:spPr>
        <p:txBody>
          <a:bodyPr wrap="square" anchor="t">
            <a:noAutofit/>
          </a:bodyPr>
          <a:lstStyle/>
          <a:p>
            <a:pPr algn="l"/>
            <a:r>
              <a:rPr sz="2600" b="1">
                <a:solidFill>
                  <a:srgbClr val="FFFFFF"/>
                </a:solidFill>
                <a:latin typeface="Calibri Light"/>
              </a:rPr>
              <a:t>WHY YOU · WHY NOW</a:t>
            </a:r>
          </a:p>
        </p:txBody>
      </p:sp>
      <p:sp>
        <p:nvSpPr>
          <p:cNvPr id="6" name="Rounded Rectangle 5"/>
          <p:cNvSpPr/>
          <p:nvPr/>
        </p:nvSpPr>
        <p:spPr>
          <a:xfrm>
            <a:off x="502920" y="1691640"/>
            <a:ext cx="11185855" cy="4663440"/>
          </a:xfrm>
          <a:prstGeom prst="roundRect">
            <a:avLst/>
          </a:prstGeom>
          <a:solidFill>
            <a:srgbClr val="1E293B"/>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545775" cy="4160520"/>
          </a:xfrm>
          <a:prstGeom prst="rect">
            <a:avLst/>
          </a:prstGeom>
          <a:noFill/>
        </p:spPr>
        <p:txBody>
          <a:bodyPr wrap="square">
            <a:spAutoFit/>
          </a:bodyPr>
          <a:lstStyle/>
          <a:p>
            <a:pPr>
              <a:spcAft>
                <a:spcPts val="800"/>
              </a:spcAft>
              <a:defRPr sz="1300">
                <a:solidFill>
                  <a:srgbClr val="94A3B8"/>
                </a:solidFill>
                <a:latin typeface="Calibri"/>
              </a:defRPr>
            </a:pPr>
            <a:r>
              <a:t>WHY YOU? [EDIT: team bullets — domain years in supply chain / logistics, shipped ML or data products, enterprise sales experience, design for ops]. Vector-Devs built an end-to-stack reference: Spring Boot agents, probability service, React operations UI, Docker compose — proof you can ship, not only slide.</a:t>
            </a:r>
          </a:p>
          <a:p>
            <a:pPr>
              <a:spcAft>
                <a:spcPts val="800"/>
              </a:spcAft>
              <a:defRPr sz="1300">
                <a:solidFill>
                  <a:srgbClr val="94A3B8"/>
                </a:solidFill>
                <a:latin typeface="Calibri"/>
              </a:defRPr>
            </a:pPr>
            <a:r>
              <a:t>FULL-TIME IF IT TRACTIONS? [EDIT: Yes / timeline — e.g. “All founders commit to full-time on $XM ARR or institutional seed.”]</a:t>
            </a:r>
          </a:p>
          <a:p>
            <a:pPr>
              <a:spcAft>
                <a:spcPts val="800"/>
              </a:spcAft>
              <a:defRPr sz="1300">
                <a:solidFill>
                  <a:srgbClr val="94A3B8"/>
                </a:solidFill>
                <a:latin typeface="Calibri"/>
              </a:defRPr>
            </a:pPr>
            <a:r>
              <a:t>WHY NOW? Geopolitical volatility, near-shoring pressure, and insurer / board demand for operational resilience are expanding budgets. LLM costs and APIs finally allow affordable per-article classification at scale. Incumbents are not optimized for real-time, map-first workflows.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651760"/>
            <a:ext cx="11185855" cy="1097280"/>
          </a:xfrm>
          <a:prstGeom prst="rect">
            <a:avLst/>
          </a:prstGeom>
          <a:noFill/>
        </p:spPr>
        <p:txBody>
          <a:bodyPr wrap="square" anchor="t">
            <a:noAutofit/>
          </a:bodyPr>
          <a:lstStyle/>
          <a:p>
            <a:pPr algn="ctr"/>
            <a:r>
              <a:rPr sz="4400" b="1">
                <a:solidFill>
                  <a:srgbClr val="FFFFFF"/>
                </a:solidFill>
                <a:latin typeface="Calibri Light"/>
              </a:rPr>
              <a:t>THANK YOU</a:t>
            </a:r>
          </a:p>
        </p:txBody>
      </p:sp>
      <p:sp>
        <p:nvSpPr>
          <p:cNvPr id="5" name="TextBox 4"/>
          <p:cNvSpPr txBox="1"/>
          <p:nvPr/>
        </p:nvSpPr>
        <p:spPr>
          <a:xfrm>
            <a:off x="502920" y="3794760"/>
            <a:ext cx="11185855" cy="548640"/>
          </a:xfrm>
          <a:prstGeom prst="rect">
            <a:avLst/>
          </a:prstGeom>
          <a:noFill/>
        </p:spPr>
        <p:txBody>
          <a:bodyPr wrap="square" anchor="t">
            <a:noAutofit/>
          </a:bodyPr>
          <a:lstStyle/>
          <a:p>
            <a:pPr algn="ctr"/>
            <a:r>
              <a:rPr sz="2000" b="1">
                <a:solidFill>
                  <a:srgbClr val="22D3EE"/>
                </a:solidFill>
                <a:latin typeface="Consolas"/>
              </a:rPr>
              <a:t>Q &amp; A</a:t>
            </a:r>
          </a:p>
        </p:txBody>
      </p:sp>
      <p:sp>
        <p:nvSpPr>
          <p:cNvPr id="6" name="TextBox 5"/>
          <p:cNvSpPr txBox="1"/>
          <p:nvPr/>
        </p:nvSpPr>
        <p:spPr>
          <a:xfrm>
            <a:off x="502920" y="4572000"/>
            <a:ext cx="11185855" cy="731520"/>
          </a:xfrm>
          <a:prstGeom prst="rect">
            <a:avLst/>
          </a:prstGeom>
          <a:noFill/>
        </p:spPr>
        <p:txBody>
          <a:bodyPr wrap="square" anchor="t">
            <a:noAutofit/>
          </a:bodyPr>
          <a:lstStyle/>
          <a:p>
            <a:pPr algn="ctr"/>
            <a:r>
              <a:rPr sz="1400" b="0">
                <a:solidFill>
                  <a:srgbClr val="94A3B8"/>
                </a:solidFill>
                <a:latin typeface="Calibri"/>
              </a:rPr>
              <a:t>github.com/Vector-Devs/CursorHackathon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